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dp" ContentType="image/vnd.ms-photo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  <p:sldId id="269" r:id="rId19"/>
    <p:sldId id="270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4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8"/>
    <p:restoredTop sz="94580"/>
  </p:normalViewPr>
  <p:slideViewPr>
    <p:cSldViewPr snapToGrid="0" snapToObjects="1">
      <p:cViewPr varScale="1">
        <p:scale>
          <a:sx n="105" d="100"/>
          <a:sy n="105" d="100"/>
        </p:scale>
        <p:origin x="200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006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0291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3539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717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048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1567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175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8905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os estilos de texto mestres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5518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6300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697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estilo do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de texto mestres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A8A49-8B40-C54D-98B3-7C2DE6110694}" type="datetimeFigureOut">
              <a:rPr lang="pt-BR" smtClean="0"/>
              <a:t>23/11/2018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AC434-E2AE-8B4A-B232-8555AD5F5C8E}" type="slidenum">
              <a:rPr lang="pt-BR" smtClean="0"/>
              <a:t>‹n.º›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5011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4" Type="http://schemas.openxmlformats.org/officeDocument/2006/relationships/hyperlink" Target="mailto:flavio@prsuper.com.br" TargetMode="External"/><Relationship Id="rId5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4" Type="http://schemas.openxmlformats.org/officeDocument/2006/relationships/image" Target="../media/image2.png"/><Relationship Id="rId5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ultado de imagem para supermercado"/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9578" y="-1313626"/>
            <a:ext cx="8012843" cy="801284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440191" y="5188115"/>
            <a:ext cx="113116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A PRIMEIRA EMPRESA DE CONSULTORIA DO BRASIL ESPECIALIZADA EM SUPERMERCADOS FUNDADA EM 1990.</a:t>
            </a:r>
            <a:endParaRPr lang="pt-BR" sz="3200" b="1" dirty="0">
              <a:solidFill>
                <a:srgbClr val="C00000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56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esultado de imagem para supermercado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440190" y="300805"/>
            <a:ext cx="113116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CONSULTOR RESPONSÁVEL</a:t>
            </a:r>
            <a:endParaRPr lang="pt-BR" sz="4400" b="1" dirty="0">
              <a:solidFill>
                <a:srgbClr val="C0000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-704192" y="5554855"/>
            <a:ext cx="7273158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pt-BR" sz="4000" b="1" dirty="0"/>
              <a:t>FLÁVIO CONSTANT PIRES</a:t>
            </a:r>
          </a:p>
          <a:p>
            <a:pPr algn="ctr" fontAlgn="base"/>
            <a:r>
              <a:rPr lang="pt-BR" sz="2400" dirty="0" smtClean="0">
                <a:hlinkClick r:id="rId4"/>
              </a:rPr>
              <a:t>flavio@prsuper.com.br</a:t>
            </a:r>
            <a:endParaRPr lang="pt-BR" sz="2400" dirty="0"/>
          </a:p>
          <a:p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5969877" y="1679846"/>
            <a:ext cx="6053959" cy="4693593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noFill/>
          </a:ln>
          <a:effectLst>
            <a:outerShdw blurRad="76200" dist="165100" dir="2700000" sx="98000" sy="98000" algn="ctr">
              <a:srgbClr val="C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Graduado em Administração de Empresas pela FGV, MBA em Gestão Empresarial pela FGV, Mestrando em Marketing de Marcas Próprias para Supermercado pela UNIMEP/SP, Pós Graduado em Varejo e Recursos Humanos pela FGV, certificado no Curso de Negociação como Aluno Especial do Curso de Mestrado da FEARP/USP e COACH formado pelo método CIS – Coaching Integral Sistêmico pela FEBRACIS</a:t>
            </a:r>
            <a:r>
              <a:rPr lang="pt-BR" sz="1300" dirty="0" smtClean="0"/>
              <a:t>.</a:t>
            </a:r>
            <a:endParaRPr lang="pt-BR" sz="1300" dirty="0"/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Profissional com fortes resultados de crescimento de vendas, economias operacionais, aumento de produtividade / lucratividade e recuperação empresarial.</a:t>
            </a:r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Especializado em Marketing, Propaganda, Pesquisa de Mercado, Comercialização e Vendas, Administração e Recursos Humanos.</a:t>
            </a:r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Na Indústria atuou como Gerente de Vendas, Gerente de Marketing e Gerente de Desenvolvimento e Treinamento de Vendas na UNILEVER.</a:t>
            </a:r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No Comércio atuou como dirigente de empresas do setor supermercadista onde obteve grande experiência junto a organizações familiares.</a:t>
            </a:r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Professor Universitário na cadeira de Marketing e professor de Casos de Marketing em cursos de Pós Graduação, tendo realizado diversos programas para o SENAC e o SEBRAE.</a:t>
            </a:r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Proferiu inúmeras palestras sobre temas de Gestão nas áreas de Administração, Finanças, Marketing, Recursos Humanos e Relações de Consumo em diversas cidades e capitais brasileiras. Atuou como consultor na APAS – Associação Paulista de Supermercados, ABRAS – Associação Brasileira de Supermercado, ABRAS – Associação Brasileira de Supermercados e APA – Associação Paulista de Avicultura.</a:t>
            </a:r>
          </a:p>
          <a:p>
            <a:pPr marL="171450" indent="-171450" algn="just" fontAlgn="base">
              <a:buFont typeface="Arial" charset="0"/>
              <a:buChar char="•"/>
            </a:pPr>
            <a:r>
              <a:rPr lang="pt-BR" sz="1300" dirty="0"/>
              <a:t>Autor do livro "OS SUPERMERCADOS E O CÓDIGO DE DEFESA DO CONSUMIDOR", editado pela ABRAS</a:t>
            </a:r>
            <a:r>
              <a:rPr lang="pt-BR" sz="1300" dirty="0" smtClean="0"/>
              <a:t>.</a:t>
            </a:r>
            <a:endParaRPr lang="pt-BR" sz="1300" dirty="0"/>
          </a:p>
        </p:txBody>
      </p:sp>
      <p:sp>
        <p:nvSpPr>
          <p:cNvPr id="9" name="Oval 8"/>
          <p:cNvSpPr/>
          <p:nvPr/>
        </p:nvSpPr>
        <p:spPr>
          <a:xfrm>
            <a:off x="709454" y="1387359"/>
            <a:ext cx="4176000" cy="417600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669" t="-2304" r="-26881" b="-20641"/>
            </a:stretch>
          </a:blip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401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800" decel="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ultado de imagem para supermercado"/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913" y="-343700"/>
            <a:ext cx="2576813" cy="257681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72299" y="1681810"/>
            <a:ext cx="11564101" cy="979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ALGUNS DOS MAIS DE </a:t>
            </a:r>
            <a:r>
              <a:rPr lang="pt-BR" sz="3200" b="1" u="sng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400</a:t>
            </a:r>
            <a:r>
              <a:rPr lang="pt-BR" sz="32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 SUPERMERCADOS ATENDIDOS, QUE FAZEM PARTE DA NOSSA HISTÓRIA:</a:t>
            </a:r>
            <a:endParaRPr lang="pt-BR" sz="3200" b="1" dirty="0">
              <a:solidFill>
                <a:srgbClr val="C0000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2052" name="Picture 4" descr="avegnago supermercado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514" y="4469138"/>
            <a:ext cx="3858416" cy="70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759" y="4428333"/>
            <a:ext cx="3920527" cy="841346"/>
          </a:xfrm>
          <a:prstGeom prst="rect">
            <a:avLst/>
          </a:prstGeom>
        </p:spPr>
      </p:pic>
      <p:pic>
        <p:nvPicPr>
          <p:cNvPr id="2054" name="Picture 6" descr="esultado de imagem para PAO DE ACUCAR  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1845" y="4132326"/>
            <a:ext cx="1557086" cy="1264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314" y="4887173"/>
            <a:ext cx="2258959" cy="2258959"/>
          </a:xfrm>
          <a:prstGeom prst="rect">
            <a:avLst/>
          </a:prstGeom>
        </p:spPr>
      </p:pic>
      <p:pic>
        <p:nvPicPr>
          <p:cNvPr id="10" name="Imagem 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89" y="4930099"/>
            <a:ext cx="2041282" cy="2041282"/>
          </a:xfrm>
          <a:prstGeom prst="rect">
            <a:avLst/>
          </a:prstGeom>
        </p:spPr>
      </p:pic>
      <p:pic>
        <p:nvPicPr>
          <p:cNvPr id="2056" name="Picture 8" descr="esultado de imagem para central de compras LOGO 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4185" y="4929921"/>
            <a:ext cx="2853349" cy="214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esultado de imagem para bretas supermercado LOGO PN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8031" y="5487119"/>
            <a:ext cx="1001582" cy="1001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upermercado Bordinatti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9873" y="5526877"/>
            <a:ext cx="2381250" cy="84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 descr="esultado de imagem para ABRAS 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5107" y="2988554"/>
            <a:ext cx="2856738" cy="931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esultado de imagem para APAS 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7628" y="2577576"/>
            <a:ext cx="3371503" cy="18964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241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Ã¡fico, Crescimento, FinanÃ§as, Lucros, Dividendos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647" y="1817027"/>
            <a:ext cx="5856616" cy="5856616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665102" y="1028089"/>
            <a:ext cx="1099349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DISPARE NA FRENTE COM OS 30 ANOS DE EXPERIÊNCIA DA PRÓ SUPER E OBTENHA:</a:t>
            </a:r>
            <a:endParaRPr lang="pt-BR" sz="4400" b="1" dirty="0">
              <a:solidFill>
                <a:srgbClr val="C0000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156200" y="3075353"/>
            <a:ext cx="684900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charset="2"/>
              <a:buChar char="q"/>
            </a:pPr>
            <a:r>
              <a:rPr lang="pt-BR" sz="3600" dirty="0" smtClean="0">
                <a:latin typeface="Arial" charset="0"/>
                <a:ea typeface="Arial" charset="0"/>
                <a:cs typeface="Arial" charset="0"/>
              </a:rPr>
              <a:t>Aumento da Lucratividade.</a:t>
            </a:r>
          </a:p>
          <a:p>
            <a:pPr marL="457200" indent="-457200">
              <a:lnSpc>
                <a:spcPct val="150000"/>
              </a:lnSpc>
              <a:buFont typeface="Wingdings" charset="2"/>
              <a:buChar char="q"/>
            </a:pPr>
            <a:r>
              <a:rPr lang="pt-BR" sz="3600" dirty="0" smtClean="0">
                <a:latin typeface="Arial" charset="0"/>
                <a:ea typeface="Arial" charset="0"/>
                <a:cs typeface="Arial" charset="0"/>
              </a:rPr>
              <a:t>Crescimento das Vendas.</a:t>
            </a:r>
          </a:p>
          <a:p>
            <a:pPr marL="457200" indent="-457200">
              <a:lnSpc>
                <a:spcPct val="150000"/>
              </a:lnSpc>
              <a:buFont typeface="Wingdings" charset="2"/>
              <a:buChar char="q"/>
            </a:pPr>
            <a:r>
              <a:rPr lang="pt-BR" sz="3600" dirty="0" smtClean="0">
                <a:latin typeface="Arial" charset="0"/>
                <a:ea typeface="Arial" charset="0"/>
                <a:cs typeface="Arial" charset="0"/>
              </a:rPr>
              <a:t>Redução dos Custos.</a:t>
            </a:r>
          </a:p>
          <a:p>
            <a:pPr marL="457200" indent="-457200">
              <a:lnSpc>
                <a:spcPct val="150000"/>
              </a:lnSpc>
              <a:buFont typeface="Wingdings" charset="2"/>
              <a:buChar char="q"/>
            </a:pPr>
            <a:r>
              <a:rPr lang="pt-BR" sz="3600" dirty="0" smtClean="0">
                <a:latin typeface="Arial" charset="0"/>
                <a:ea typeface="Arial" charset="0"/>
                <a:cs typeface="Arial" charset="0"/>
              </a:rPr>
              <a:t>Diminuição dos Impostos</a:t>
            </a:r>
            <a:r>
              <a:rPr lang="pt-BR" sz="3600" dirty="0" smtClean="0">
                <a:solidFill>
                  <a:srgbClr val="C00000"/>
                </a:solidFill>
                <a:latin typeface="Arial" charset="0"/>
                <a:ea typeface="Arial" charset="0"/>
                <a:cs typeface="Arial" charset="0"/>
              </a:rPr>
              <a:t>.</a:t>
            </a:r>
            <a:endParaRPr lang="pt-BR" sz="3600" dirty="0">
              <a:solidFill>
                <a:srgbClr val="C00000"/>
              </a:solidFill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57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800" decel="100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800" decel="100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000"/>
                            </p:stCondLst>
                            <p:childTnLst>
                              <p:par>
                                <p:cTn id="19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800" decel="100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800" decel="100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00" accel="10000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magem relacionada"/>
          <p:cNvPicPr>
            <a:picLocks noChangeAspect="1" noChangeArrowheads="1"/>
          </p:cNvPicPr>
          <p:nvPr/>
        </p:nvPicPr>
        <p:blipFill>
          <a:blip r:embed="rId2">
            <a:alphaModFix amt="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0477" y="2197428"/>
            <a:ext cx="1231572" cy="1231572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4098" name="Picture 2" descr="apa, Mapa Do Brasil DivisÃ£o, Estados, ExtrusÃ£o"/>
          <p:cNvPicPr>
            <a:picLocks noChangeAspect="1" noChangeArrowheads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9998" y="311728"/>
            <a:ext cx="6026727" cy="6234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867812" y="1039790"/>
            <a:ext cx="4491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PRÓ SUPER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079341" y="2534164"/>
            <a:ext cx="806804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dirty="0" smtClean="0">
                <a:latin typeface="Arial" charset="0"/>
                <a:ea typeface="Arial" charset="0"/>
                <a:cs typeface="Arial" charset="0"/>
              </a:rPr>
              <a:t>A </a:t>
            </a:r>
            <a:r>
              <a:rPr lang="pt-BR" sz="4400" b="1" dirty="0" smtClean="0">
                <a:latin typeface="Arial" charset="0"/>
                <a:ea typeface="Arial" charset="0"/>
                <a:cs typeface="Arial" charset="0"/>
              </a:rPr>
              <a:t>única Empresa de Consultoria </a:t>
            </a:r>
            <a:r>
              <a:rPr lang="pt-BR" sz="4400" dirty="0" smtClean="0">
                <a:latin typeface="Arial" charset="0"/>
                <a:ea typeface="Arial" charset="0"/>
                <a:cs typeface="Arial" charset="0"/>
              </a:rPr>
              <a:t>no BRASIL, que atua exclusivamente em Supermercados.</a:t>
            </a:r>
            <a:endParaRPr lang="pt-BR" sz="4400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820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permercado, Barracas, Coolers, Mercado, Alimentos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850451" y="893707"/>
            <a:ext cx="4491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u="sng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MISSÃO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533400" y="2332717"/>
            <a:ext cx="111252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b="1" dirty="0"/>
              <a:t>Impactar positivamente a </a:t>
            </a:r>
            <a:r>
              <a:rPr lang="pt-BR" sz="4400" b="1" dirty="0" smtClean="0"/>
              <a:t>gestão dos supermercados, </a:t>
            </a:r>
            <a:r>
              <a:rPr lang="pt-BR" sz="4400" b="1" dirty="0"/>
              <a:t>com ênfase no aumento da lucratividade e na organização dos seus processos de trabalho.</a:t>
            </a:r>
            <a:endParaRPr lang="pt-BR" sz="44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5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525370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871423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permercado, Barracas, Coolers, Mercado, Alimentos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850451" y="893707"/>
            <a:ext cx="4491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u="sng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VISÃO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168400" y="2332717"/>
            <a:ext cx="98552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pt-BR" sz="4400" b="1" dirty="0"/>
              <a:t>Ser reconhecida até 2020, como a melhor consultoria </a:t>
            </a:r>
            <a:r>
              <a:rPr lang="pt-BR" sz="4400" b="1" dirty="0" smtClean="0"/>
              <a:t>para empresas </a:t>
            </a:r>
            <a:r>
              <a:rPr lang="pt-BR" sz="4400" b="1" dirty="0"/>
              <a:t>no segmento de supermercados no Brasil.</a:t>
            </a:r>
            <a:endParaRPr lang="pt-BR" sz="4400" b="1" dirty="0"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pic>
        <p:nvPicPr>
          <p:cNvPr id="8" name="Picture 2" descr="magem relacionada"/>
          <p:cNvPicPr>
            <a:picLocks noChangeAspect="1" noChangeArrowheads="1"/>
          </p:cNvPicPr>
          <p:nvPr/>
        </p:nvPicPr>
        <p:blipFill>
          <a:blip r:embed="rId5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244954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563613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permercado, Barracas, Coolers, Mercado, Alimentos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850451" y="893707"/>
            <a:ext cx="44910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u="sng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VALORES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2659195" y="2634759"/>
            <a:ext cx="687360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fontAlgn="base">
              <a:buFont typeface="Arial" charset="0"/>
              <a:buChar char="•"/>
            </a:pPr>
            <a:r>
              <a:rPr lang="pt-BR" sz="4400" b="1" dirty="0"/>
              <a:t>Fidelidade aos Objetivos.</a:t>
            </a:r>
          </a:p>
          <a:p>
            <a:pPr marL="571500" indent="-571500" fontAlgn="base">
              <a:buFont typeface="Arial" charset="0"/>
              <a:buChar char="•"/>
            </a:pPr>
            <a:r>
              <a:rPr lang="pt-BR" sz="4400" b="1" dirty="0" smtClean="0"/>
              <a:t>Trabalho </a:t>
            </a:r>
            <a:r>
              <a:rPr lang="pt-BR" sz="4400" b="1" dirty="0"/>
              <a:t>em </a:t>
            </a:r>
            <a:r>
              <a:rPr lang="pt-BR" sz="4400" b="1" dirty="0" smtClean="0"/>
              <a:t>Equipe.</a:t>
            </a:r>
            <a:endParaRPr lang="pt-BR" sz="4400" b="1" dirty="0"/>
          </a:p>
          <a:p>
            <a:pPr marL="571500" indent="-571500" fontAlgn="base">
              <a:buFont typeface="Arial" charset="0"/>
              <a:buChar char="•"/>
            </a:pPr>
            <a:r>
              <a:rPr lang="pt-BR" sz="4400" b="1" dirty="0"/>
              <a:t>Melhoria </a:t>
            </a:r>
            <a:r>
              <a:rPr lang="pt-BR" sz="4400" b="1" dirty="0" smtClean="0"/>
              <a:t>Contínua.</a:t>
            </a:r>
            <a:r>
              <a:rPr lang="pt-BR" sz="4400" b="1" dirty="0"/>
              <a:t> </a:t>
            </a:r>
          </a:p>
          <a:p>
            <a:pPr marL="571500" indent="-571500" fontAlgn="base">
              <a:buFont typeface="Arial" charset="0"/>
              <a:buChar char="•"/>
            </a:pPr>
            <a:r>
              <a:rPr lang="pt-BR" sz="4400" b="1" dirty="0"/>
              <a:t>Mentalidade </a:t>
            </a:r>
            <a:r>
              <a:rPr lang="pt-BR" sz="4400" b="1" dirty="0" smtClean="0"/>
              <a:t>Vencedora.</a:t>
            </a:r>
            <a:endParaRPr lang="pt-BR" sz="4400" b="1" dirty="0"/>
          </a:p>
          <a:p>
            <a:pPr marL="571500" indent="-571500" fontAlgn="base">
              <a:buFont typeface="Arial" charset="0"/>
              <a:buChar char="•"/>
            </a:pPr>
            <a:r>
              <a:rPr lang="pt-BR" sz="4400" b="1" dirty="0"/>
              <a:t>Excelência em </a:t>
            </a:r>
            <a:r>
              <a:rPr lang="pt-BR" sz="4400" b="1" dirty="0" smtClean="0"/>
              <a:t>Resultados.</a:t>
            </a:r>
            <a:endParaRPr lang="pt-BR" sz="4400" b="1" dirty="0"/>
          </a:p>
          <a:p>
            <a:pPr marL="571500" indent="-571500" fontAlgn="base">
              <a:buFont typeface="Arial" charset="0"/>
              <a:buChar char="•"/>
            </a:pPr>
            <a:endParaRPr lang="pt-BR" sz="4400" b="1" dirty="0"/>
          </a:p>
        </p:txBody>
      </p:sp>
      <p:pic>
        <p:nvPicPr>
          <p:cNvPr id="7" name="Imagem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pic>
        <p:nvPicPr>
          <p:cNvPr id="8" name="Picture 2" descr="magem relacionada"/>
          <p:cNvPicPr>
            <a:picLocks noChangeAspect="1" noChangeArrowheads="1"/>
          </p:cNvPicPr>
          <p:nvPr/>
        </p:nvPicPr>
        <p:blipFill>
          <a:blip r:embed="rId5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525370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02592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0" name="Picture 4" descr="uebra CabeÃ§a, CooperaÃ§Ã£o, Parceria, Juntos, Equipe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581809"/>
            <a:ext cx="8828690" cy="882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304799" y="893706"/>
            <a:ext cx="1158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u="sng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CONCEITO DE AUTO EXECUÇÃO</a:t>
            </a:r>
            <a:endParaRPr lang="pt-BR" sz="6000" b="1" u="sng" dirty="0" smtClean="0">
              <a:solidFill>
                <a:srgbClr val="C0000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4" name="CaixaDeTexto 13"/>
          <p:cNvSpPr txBox="1"/>
          <p:nvPr/>
        </p:nvSpPr>
        <p:spPr>
          <a:xfrm>
            <a:off x="534831" y="2332612"/>
            <a:ext cx="111223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pt-BR" sz="4000" dirty="0" smtClean="0"/>
              <a:t>Capacitamos os profissionais de nossos clientes para realizarem as tarefas no processo de gestão</a:t>
            </a:r>
            <a:r>
              <a:rPr lang="pt-BR" sz="4000" dirty="0"/>
              <a:t>.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371705" y="4309462"/>
            <a:ext cx="10086986" cy="192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pt-BR" sz="3600" b="1" dirty="0" smtClean="0"/>
              <a:t>ISTO GARANTE A CONTINUIDADE DAS ATIVIDADES</a:t>
            </a:r>
          </a:p>
          <a:p>
            <a:pPr algn="ctr" fontAlgn="base"/>
            <a:r>
              <a:rPr lang="pt-BR" sz="3600" b="1" dirty="0" smtClean="0"/>
              <a:t>APÓS O ENCERRAMENTO DOS SERVIÇOS</a:t>
            </a:r>
          </a:p>
          <a:p>
            <a:pPr algn="ctr" fontAlgn="base"/>
            <a:r>
              <a:rPr lang="pt-BR" sz="3600" b="1" dirty="0" smtClean="0"/>
              <a:t>DE CONSULTORIA</a:t>
            </a:r>
            <a:endParaRPr lang="pt-BR" sz="3600" b="1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5063699"/>
            <a:ext cx="2097573" cy="2097573"/>
          </a:xfrm>
          <a:prstGeom prst="rect">
            <a:avLst/>
          </a:prstGeom>
        </p:spPr>
      </p:pic>
      <p:pic>
        <p:nvPicPr>
          <p:cNvPr id="9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8827" y="1988922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107554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sultado de imagem para checklist"/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1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/>
          <p:cNvSpPr txBox="1"/>
          <p:nvPr/>
        </p:nvSpPr>
        <p:spPr>
          <a:xfrm>
            <a:off x="2340024" y="820050"/>
            <a:ext cx="31311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PRÓ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246908" y="3560945"/>
            <a:ext cx="98921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pt-BR" sz="3600" dirty="0" smtClean="0"/>
              <a:t>O planejamento da </a:t>
            </a:r>
            <a:r>
              <a:rPr lang="pt-BR" sz="3600" b="1" dirty="0" smtClean="0"/>
              <a:t>PRÓ SUPER</a:t>
            </a:r>
            <a:r>
              <a:rPr lang="pt-BR" sz="3600" dirty="0" smtClean="0"/>
              <a:t> é precedido de um diagnóstico, para a definição das ações de forma eficaz e eficiente, visando a superação das fraquezas e ameaças e a maximização das forças e oportunidades.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366945" y="1423420"/>
            <a:ext cx="2072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latin typeface="Roboto" charset="0"/>
                <a:ea typeface="Roboto" charset="0"/>
                <a:cs typeface="Roboto" charset="0"/>
              </a:rPr>
              <a:t>NAS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3818307" y="1702582"/>
            <a:ext cx="477705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AÇÕES</a:t>
            </a:r>
          </a:p>
        </p:txBody>
      </p:sp>
      <p:pic>
        <p:nvPicPr>
          <p:cNvPr id="10" name="Imagem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pic>
        <p:nvPicPr>
          <p:cNvPr id="11" name="Picture 2" descr="magem relacionada"/>
          <p:cNvPicPr>
            <a:picLocks noChangeAspect="1" noChangeArrowheads="1"/>
          </p:cNvPicPr>
          <p:nvPr/>
        </p:nvPicPr>
        <p:blipFill>
          <a:blip r:embed="rId5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345" y="2955283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99441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esultado de imagem para checklist"/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1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2340024" y="307910"/>
            <a:ext cx="31311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PRÓ</a:t>
            </a:r>
          </a:p>
        </p:txBody>
      </p:sp>
      <p:sp>
        <p:nvSpPr>
          <p:cNvPr id="14" name="CaixaDeTexto 13"/>
          <p:cNvSpPr txBox="1"/>
          <p:nvPr/>
        </p:nvSpPr>
        <p:spPr>
          <a:xfrm>
            <a:off x="1149927" y="2585082"/>
            <a:ext cx="98921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pt-BR" sz="3600" dirty="0" smtClean="0"/>
              <a:t>Os resultados que a </a:t>
            </a:r>
            <a:r>
              <a:rPr lang="pt-BR" sz="3600" b="1" dirty="0" smtClean="0"/>
              <a:t>PRÓ SUPER</a:t>
            </a:r>
            <a:r>
              <a:rPr lang="pt-BR" sz="3600" dirty="0" smtClean="0"/>
              <a:t> garante são: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4366945" y="911280"/>
            <a:ext cx="20726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b="1" dirty="0" smtClean="0">
                <a:latin typeface="Roboto" charset="0"/>
                <a:ea typeface="Roboto" charset="0"/>
                <a:cs typeface="Roboto" charset="0"/>
              </a:rPr>
              <a:t>NOS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2851259" y="1376150"/>
            <a:ext cx="70064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RESULTADOS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4604" y="3399840"/>
            <a:ext cx="12326387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fontAlgn="base">
              <a:buFont typeface="Wingdings" charset="2"/>
              <a:buChar char="ü"/>
            </a:pPr>
            <a:r>
              <a:rPr lang="pt-BR" sz="3500" dirty="0" smtClean="0"/>
              <a:t>Gestão da Empresa com Inteligência Emocional.</a:t>
            </a:r>
          </a:p>
          <a:p>
            <a:pPr marL="571500" indent="-571500" fontAlgn="base">
              <a:buFont typeface="Wingdings" charset="2"/>
              <a:buChar char="ü"/>
            </a:pPr>
            <a:r>
              <a:rPr lang="pt-BR" sz="3500" dirty="0" smtClean="0"/>
              <a:t>Melhoria do </a:t>
            </a:r>
            <a:r>
              <a:rPr lang="pt-BR" sz="3500" dirty="0"/>
              <a:t>D</a:t>
            </a:r>
            <a:r>
              <a:rPr lang="pt-BR" sz="3500" dirty="0" smtClean="0"/>
              <a:t>esempenho Operacional e Prevenção de Perdas.</a:t>
            </a:r>
          </a:p>
          <a:p>
            <a:pPr marL="571500" indent="-571500" fontAlgn="base">
              <a:buFont typeface="Wingdings" charset="2"/>
              <a:buChar char="ü"/>
            </a:pPr>
            <a:r>
              <a:rPr lang="pt-BR" sz="3500" dirty="0" smtClean="0"/>
              <a:t>Fluxo de Caixa Equilibrado e Estoque Controlado.</a:t>
            </a:r>
          </a:p>
          <a:p>
            <a:pPr marL="571500" indent="-571500" fontAlgn="base">
              <a:buFont typeface="Wingdings" charset="2"/>
              <a:buChar char="ü"/>
            </a:pPr>
            <a:r>
              <a:rPr lang="pt-BR" sz="3500" dirty="0" smtClean="0"/>
              <a:t>Gestão de Categorias e Controle das Rupturas no nível de 3%.</a:t>
            </a:r>
          </a:p>
          <a:p>
            <a:pPr marL="571500" indent="-571500" fontAlgn="base">
              <a:buFont typeface="Wingdings" charset="2"/>
              <a:buChar char="ü"/>
            </a:pPr>
            <a:r>
              <a:rPr lang="pt-BR" sz="3500" dirty="0" smtClean="0"/>
              <a:t>Crescimento de Vendas com Elevação da Lucratividade.</a:t>
            </a:r>
          </a:p>
          <a:p>
            <a:pPr marL="571500" indent="-571500" fontAlgn="base">
              <a:buFont typeface="Wingdings" charset="2"/>
              <a:buChar char="ü"/>
            </a:pPr>
            <a:r>
              <a:rPr lang="pt-BR" sz="3500" dirty="0" smtClean="0"/>
              <a:t>Adequação do Regime </a:t>
            </a:r>
            <a:r>
              <a:rPr lang="pt-BR" sz="3500" dirty="0"/>
              <a:t>T</a:t>
            </a:r>
            <a:r>
              <a:rPr lang="pt-BR" sz="3500" dirty="0" smtClean="0"/>
              <a:t>ributário.</a:t>
            </a:r>
          </a:p>
        </p:txBody>
      </p:sp>
      <p:pic>
        <p:nvPicPr>
          <p:cNvPr id="11" name="Picture 2" descr="magem relacionada"/>
          <p:cNvPicPr>
            <a:picLocks noChangeAspect="1" noChangeArrowheads="1"/>
          </p:cNvPicPr>
          <p:nvPr/>
        </p:nvPicPr>
        <p:blipFill>
          <a:blip r:embed="rId5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525370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302469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mpreendedor, IdÃ©ia, CompetÃªncia, VisÃ£o, Alvo"/>
          <p:cNvPicPr>
            <a:picLocks noChangeAspect="1" noChangeArrowheads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62482"/>
            <a:ext cx="12192000" cy="6999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18155" y="820049"/>
            <a:ext cx="83556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PASSOS INICIAIS DA CONSULTORIA</a:t>
            </a:r>
            <a:endParaRPr lang="pt-BR" sz="6000" b="1" dirty="0" smtClean="0">
              <a:solidFill>
                <a:srgbClr val="C00000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192571" y="3641572"/>
            <a:ext cx="118068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/>
            <a:r>
              <a:rPr lang="pt-BR" sz="3600" dirty="0" smtClean="0"/>
              <a:t>Nas primeiras 08 semanas a </a:t>
            </a:r>
            <a:r>
              <a:rPr lang="pt-BR" sz="3600" b="1" dirty="0" smtClean="0"/>
              <a:t>PRÓ SUPER </a:t>
            </a:r>
            <a:r>
              <a:rPr lang="pt-BR" sz="3600" dirty="0" smtClean="0"/>
              <a:t>dedica suas ações em pontos estratégicos para garantir o crescimento do lucro operacional bruto acima de </a:t>
            </a:r>
            <a:r>
              <a:rPr lang="pt-BR" sz="3600" b="1" dirty="0" smtClean="0"/>
              <a:t>3% sobre a venda.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671674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2101995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nto De InterrogaÃ§Ã£o, Importante, Inscreva Se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63180" y="277302"/>
            <a:ext cx="10848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VOCÊ TEM AS RESPOSTAS PARA ESSAS PERGUNTAS?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2647191"/>
            <a:ext cx="122681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Como é feito o controle de rotatividade dos colaboradores?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Como aumentar a produtividade do seu colaborador?</a:t>
            </a:r>
            <a:endParaRPr lang="pt-BR" sz="3600" dirty="0"/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As pessoas certas estão no lugar certo?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Como são identificadas as necessidades de treinamento?</a:t>
            </a:r>
            <a:endParaRPr lang="pt-BR" sz="3600" dirty="0"/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O quadro de colaboradores está corretamente definido?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3180" y="1813319"/>
            <a:ext cx="1084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PILAR DE RECURSOS HUMANOS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525370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179" y="4697078"/>
            <a:ext cx="5691352" cy="28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89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nto De InterrogaÃ§Ã£o, Importante, Inscreva Se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63180" y="57846"/>
            <a:ext cx="10848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VOCÊ TEM AS RESPOSTAS PARA ESSAS PERGUNTAS?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2421120"/>
            <a:ext cx="1226819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Você sabe como controlar o seu estoque?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A sua estrutura mercadológica está devidamente elaborada?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Existe um plano de compras orientado por orçamento?</a:t>
            </a:r>
            <a:endParaRPr lang="pt-BR" sz="3200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Existe uma estratégia eficiente para a formação dos preços de venda?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As </a:t>
            </a:r>
            <a:r>
              <a:rPr lang="pt-BR" sz="3200" dirty="0" smtClean="0"/>
              <a:t>informações fiscais no seu cadastro de produtos estão permanentemente atualizadas?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3180" y="1728965"/>
            <a:ext cx="1084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PILAR DE COMPRAS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11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525370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255" y="4768191"/>
            <a:ext cx="5691352" cy="28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640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nto De InterrogaÃ§Ã£o, Importante, Inscreva Se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63180" y="277302"/>
            <a:ext cx="10848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VOCÊ TEM AS RESPOSTAS PARA ESSAS PERGUNTAS?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2726640"/>
            <a:ext cx="1226819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As mercadorias são recebidas com segurança?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Existe um processo de controle e prevenção de perdas eficiente?</a:t>
            </a:r>
            <a:endParaRPr lang="pt-BR" sz="3200" dirty="0" smtClean="0"/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Como é controlada a qualidade de precificação?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Como é controlado o prazo de validade?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200" dirty="0" smtClean="0"/>
              <a:t>A operação de caixa é realizada com absoluta segurança?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3180" y="1945602"/>
            <a:ext cx="1084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PILAR OPERACIONAL DE LOJA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3025242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8255" y="4796976"/>
            <a:ext cx="5691352" cy="28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94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nto De InterrogaÃ§Ã£o, Importante, Inscreva Se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63180" y="-27498"/>
            <a:ext cx="10848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VOCÊ TEM AS RESPOSTAS PARA ESSAS PERGUNTAS?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1842310"/>
            <a:ext cx="122681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Como é definido o seu planejamento promocional?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Como é controlado o resultado das vendas nas ações operacionais?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Quais as vantagens competitivas do seu negócio?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Como agregar valores para os seus clientes?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600" dirty="0" smtClean="0"/>
              <a:t>Com qual frequência são realizadas as pesquisas de satisfação com seus clientes?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3180" y="1406724"/>
            <a:ext cx="1084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PILAR DE MARKETING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2251" y="2927706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8151" y="4963498"/>
            <a:ext cx="5221593" cy="261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201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onto De InterrogaÃ§Ã£o, Importante, Inscreva Se"/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63180" y="277302"/>
            <a:ext cx="108488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VOCÊ TEM AS RESPOSTAS PARA ESSAS PERGUNTAS?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0" y="2488396"/>
            <a:ext cx="12268199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fontAlgn="base">
              <a:buFont typeface="+mj-lt"/>
              <a:buAutoNum type="arabicPeriod"/>
            </a:pPr>
            <a:r>
              <a:rPr lang="pt-BR" sz="3400" dirty="0" smtClean="0"/>
              <a:t>Seu supermercado tem um DRE (Demonstrativo de Resultados)?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400" dirty="0" smtClean="0"/>
              <a:t>Existem controles que orientam como reduzir despesas?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400" dirty="0" smtClean="0"/>
              <a:t>A gestão financeira está voltada para redução dos impostos?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400" dirty="0" smtClean="0"/>
              <a:t>Existe um plano de lucratividade para cada um dos setores operacionais?</a:t>
            </a:r>
          </a:p>
          <a:p>
            <a:pPr marL="514350" indent="-514350" fontAlgn="base">
              <a:buFont typeface="+mj-lt"/>
              <a:buAutoNum type="arabicPeriod"/>
            </a:pPr>
            <a:r>
              <a:rPr lang="pt-BR" sz="3400" dirty="0" smtClean="0"/>
              <a:t>Existe um planejamento para redução dos custos?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563180" y="1846962"/>
            <a:ext cx="108488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dirty="0" smtClean="0">
                <a:solidFill>
                  <a:srgbClr val="FF7417"/>
                </a:solidFill>
                <a:latin typeface="Roboto" charset="0"/>
                <a:ea typeface="Roboto" charset="0"/>
                <a:cs typeface="Roboto" charset="0"/>
              </a:rPr>
              <a:t>PILAR DE FINANÇAS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3086202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708" y="4816374"/>
            <a:ext cx="5691352" cy="2845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45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20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4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8000"/>
                            </p:stCondLst>
                            <p:childTnLst>
                              <p:par>
                                <p:cTn id="2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3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scritÃ³rio, NegÃ³cios, Colegas, ReuniÃ£o, Computadores"/>
          <p:cNvPicPr>
            <a:picLocks noChangeAspect="1" noChangeArrowheads="1"/>
          </p:cNvPicPr>
          <p:nvPr/>
        </p:nvPicPr>
        <p:blipFill>
          <a:blip r:embed="rId2">
            <a:alphaModFix amt="35000"/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0"/>
            <a:ext cx="12192000" cy="690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-228737"/>
            <a:ext cx="2097573" cy="2097573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563180" y="530822"/>
            <a:ext cx="108488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800" b="1" dirty="0" smtClean="0">
                <a:solidFill>
                  <a:srgbClr val="C00000"/>
                </a:solidFill>
                <a:latin typeface="Roboto" charset="0"/>
                <a:ea typeface="Roboto" charset="0"/>
                <a:cs typeface="Roboto" charset="0"/>
              </a:rPr>
              <a:t>PADRÃO DE ATUAÇÃO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497373" y="1948059"/>
            <a:ext cx="11247121" cy="4626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8000" indent="-514350" algn="just" fontAlgn="base">
              <a:buFont typeface="Wingdings" charset="2"/>
              <a:buChar char="q"/>
            </a:pPr>
            <a:r>
              <a:rPr lang="pt-BR" sz="3200" dirty="0" smtClean="0"/>
              <a:t>É realizado um diagnóstico de todos os procedimentos antes de sua execução.</a:t>
            </a:r>
          </a:p>
          <a:p>
            <a:pPr marL="468000" indent="-514350" algn="just" fontAlgn="base">
              <a:lnSpc>
                <a:spcPts val="5040"/>
              </a:lnSpc>
              <a:buFont typeface="Wingdings" charset="2"/>
              <a:buChar char="q"/>
            </a:pPr>
            <a:r>
              <a:rPr lang="pt-BR" sz="3200" dirty="0" smtClean="0"/>
              <a:t>As atividades são realizadas obedecendo um cronograma.</a:t>
            </a:r>
          </a:p>
          <a:p>
            <a:pPr marL="468000" indent="-514350" algn="just" fontAlgn="base">
              <a:buFont typeface="Wingdings" charset="2"/>
              <a:buChar char="q"/>
            </a:pPr>
            <a:r>
              <a:rPr lang="pt-BR" sz="3200" dirty="0" smtClean="0"/>
              <a:t>O corpo profissional dos clientes é treinado e envolvido nas atividades da Consultoria.</a:t>
            </a:r>
          </a:p>
          <a:p>
            <a:pPr marL="468000" indent="-514350" algn="just" fontAlgn="base">
              <a:lnSpc>
                <a:spcPts val="5040"/>
              </a:lnSpc>
              <a:buFont typeface="Wingdings" charset="2"/>
              <a:buChar char="q"/>
            </a:pPr>
            <a:r>
              <a:rPr lang="pt-BR" sz="3200" dirty="0" smtClean="0"/>
              <a:t>Utilização de estratégias eficientes para ganho de mercado.</a:t>
            </a:r>
          </a:p>
          <a:p>
            <a:pPr marL="468000" indent="-514350" algn="just" fontAlgn="base">
              <a:lnSpc>
                <a:spcPts val="5040"/>
              </a:lnSpc>
              <a:buFont typeface="Wingdings" charset="2"/>
              <a:buChar char="q"/>
            </a:pPr>
            <a:r>
              <a:rPr lang="pt-BR" sz="3200" dirty="0" smtClean="0"/>
              <a:t>Reposicionamento da gestão geral do supermercado.</a:t>
            </a:r>
          </a:p>
          <a:p>
            <a:pPr marL="468000" indent="-514350" algn="just" fontAlgn="base">
              <a:lnSpc>
                <a:spcPts val="5040"/>
              </a:lnSpc>
              <a:buFont typeface="Wingdings" charset="2"/>
              <a:buChar char="q"/>
            </a:pPr>
            <a:r>
              <a:rPr lang="pt-BR" sz="3200" dirty="0" smtClean="0"/>
              <a:t>Profissionalismo na execução das atividades.</a:t>
            </a:r>
          </a:p>
        </p:txBody>
      </p:sp>
      <p:pic>
        <p:nvPicPr>
          <p:cNvPr id="7" name="Picture 2" descr="magem relacionada"/>
          <p:cNvPicPr>
            <a:picLocks noChangeAspect="1" noChangeArrowheads="1"/>
          </p:cNvPicPr>
          <p:nvPr/>
        </p:nvPicPr>
        <p:blipFill>
          <a:blip r:embed="rId4">
            <a:alphaModFix amt="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4443" y="2525370"/>
            <a:ext cx="3778976" cy="3778976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</p:spPr>
      </p:pic>
    </p:spTree>
    <p:extLst>
      <p:ext uri="{BB962C8B-B14F-4D97-AF65-F5344CB8AC3E}">
        <p14:creationId xmlns:p14="http://schemas.microsoft.com/office/powerpoint/2010/main" val="617358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5053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852</Words>
  <Application>Microsoft Macintosh PowerPoint</Application>
  <PresentationFormat>Widescreen</PresentationFormat>
  <Paragraphs>93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Calibri</vt:lpstr>
      <vt:lpstr>Calibri Light</vt:lpstr>
      <vt:lpstr>Roboto</vt:lpstr>
      <vt:lpstr>Wingdings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15.0026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Macbook</dc:creator>
  <cp:lastModifiedBy>Macbook</cp:lastModifiedBy>
  <cp:revision>38</cp:revision>
  <dcterms:created xsi:type="dcterms:W3CDTF">2018-11-09T14:47:24Z</dcterms:created>
  <dcterms:modified xsi:type="dcterms:W3CDTF">2018-11-23T19:13:42Z</dcterms:modified>
</cp:coreProperties>
</file>